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640080"/>
            <a:ext cx="2926080" cy="292608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377440" cy="2377440"/>
          </a:xfrm>
          <a:prstGeom prst="ellipse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03520"/>
            <a:ext cx="1645920" cy="164592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749808"/>
            <a:ext cx="6217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53312"/>
            <a:ext cx="667512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900" b="1">
                <a:solidFill>
                  <a:srgbClr val="F5F8FF"/>
                </a:solidFill>
                <a:latin typeface="Aptos"/>
              </a:rPr>
              <a:t>KRUSKAL’S
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01568"/>
            <a:ext cx="5943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38BDF8"/>
                </a:solidFill>
                <a:latin typeface="Aptos"/>
              </a:rPr>
              <a:t>Building the Minimum Spanning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041648"/>
            <a:ext cx="56692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B0BEDC"/>
                </a:solidFill>
                <a:latin typeface="Aptos"/>
              </a:rPr>
              <a:t>A greedy approach to connecting every vertex
with the minimum possible total edge weight.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13648" y="1755648"/>
            <a:ext cx="1828800" cy="502920"/>
          </a:xfrm>
          <a:prstGeom prst="line">
            <a:avLst/>
          </a:prstGeom>
          <a:ln w="20320">
            <a:solidFill>
              <a:srgbClr val="425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418319" y="1760220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13648" y="1755648"/>
            <a:ext cx="182880" cy="1691640"/>
          </a:xfrm>
          <a:prstGeom prst="line">
            <a:avLst/>
          </a:prstGeom>
          <a:ln w="20320">
            <a:solidFill>
              <a:srgbClr val="425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95360" y="2354580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796528" y="2258568"/>
            <a:ext cx="1645920" cy="1188720"/>
          </a:xfrm>
          <a:prstGeom prst="line">
            <a:avLst/>
          </a:prstGeom>
          <a:ln w="20320">
            <a:solidFill>
              <a:srgbClr val="425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509760" y="2606040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442448" y="2258568"/>
            <a:ext cx="137160" cy="1783080"/>
          </a:xfrm>
          <a:prstGeom prst="line">
            <a:avLst/>
          </a:prstGeom>
          <a:ln w="20320">
            <a:solidFill>
              <a:srgbClr val="425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401299" y="2903220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96528" y="3447288"/>
            <a:ext cx="1783080" cy="594360"/>
          </a:xfrm>
          <a:prstGeom prst="line">
            <a:avLst/>
          </a:prstGeom>
          <a:ln w="20320">
            <a:solidFill>
              <a:srgbClr val="425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78340" y="3497580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8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516368" y="3447288"/>
            <a:ext cx="1280160" cy="960119"/>
          </a:xfrm>
          <a:prstGeom prst="line">
            <a:avLst/>
          </a:prstGeom>
          <a:ln w="20320">
            <a:solidFill>
              <a:srgbClr val="425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046719" y="3680459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10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516368" y="4041648"/>
            <a:ext cx="3063240" cy="365759"/>
          </a:xfrm>
          <a:prstGeom prst="line">
            <a:avLst/>
          </a:prstGeom>
          <a:ln w="20320">
            <a:solidFill>
              <a:srgbClr val="425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938260" y="3977640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8412480" y="1554480"/>
            <a:ext cx="438912" cy="43891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10241280" y="2057400"/>
            <a:ext cx="438912" cy="43891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8595360" y="3246120"/>
            <a:ext cx="438912" cy="43891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0378440" y="3840480"/>
            <a:ext cx="438912" cy="43891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0" y="4206240"/>
            <a:ext cx="438912" cy="43891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25780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DD4BF"/>
                </a:solidFill>
                <a:latin typeface="Aptos"/>
              </a:rPr>
              <a:t>GREEDY  •  SORT EDGES  •  AVOID CYCLES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B0BEDC"/>
                </a:solidFill>
                <a:latin typeface="Aptos"/>
              </a:rPr>
              <a:t>PRESENTATION • KRUSKAL’S ALGORITHM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640080"/>
            <a:ext cx="2926080" cy="292608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377440" cy="2377440"/>
          </a:xfrm>
          <a:prstGeom prst="ellipse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03520"/>
            <a:ext cx="1645920" cy="164592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What is a Minimum Spanning Tree?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24128"/>
            <a:ext cx="10607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B0BEDC"/>
                </a:solidFill>
                <a:latin typeface="Aptos"/>
              </a:rPr>
              <a:t>First, understand the problem Kruskal’s algorithm solves.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166360" cy="4343400"/>
          </a:xfrm>
          <a:prstGeom prst="roundRect">
            <a:avLst/>
          </a:prstGeom>
          <a:solidFill>
            <a:srgbClr val="18274B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4572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Aptos"/>
              </a:rPr>
              <a:t>A spanning tree is a set of edges that: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4480560" cy="28346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8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Connects every vertex in the graph</a:t>
            </a:r>
          </a:p>
          <a:p>
            <a:pPr>
              <a:spcAft>
                <a:spcPts val="18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Contains no cycles</a:t>
            </a:r>
          </a:p>
          <a:p>
            <a:pPr>
              <a:spcAft>
                <a:spcPts val="18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Has exactly V − 1 edges</a:t>
            </a:r>
          </a:p>
          <a:p>
            <a:pPr>
              <a:spcAft>
                <a:spcPts val="1800"/>
              </a:spcAft>
              <a:defRPr sz="1800" b="0">
                <a:solidFill>
                  <a:srgbClr val="FBBF24"/>
                </a:solidFill>
                <a:latin typeface="Aptos"/>
              </a:defRPr>
            </a:pPr>
            <a:r>
              <a:t>A minimum spanning tree (MST) has the lowest total edge weight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5257800" cy="4343400"/>
          </a:xfrm>
          <a:prstGeom prst="roundRect">
            <a:avLst/>
          </a:prstGeom>
          <a:solidFill>
            <a:srgbClr val="18274B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38528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ptos"/>
              </a:rPr>
              <a:t>Example graph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178040" y="2743200"/>
            <a:ext cx="1463040" cy="228600"/>
          </a:xfrm>
          <a:prstGeom prst="line">
            <a:avLst/>
          </a:prstGeom>
          <a:ln w="22860">
            <a:solidFill>
              <a:srgbClr val="48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44967" y="2628900"/>
            <a:ext cx="29260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78040" y="2971800"/>
            <a:ext cx="914400" cy="1554480"/>
          </a:xfrm>
          <a:prstGeom prst="line">
            <a:avLst/>
          </a:prstGeom>
          <a:ln w="22860">
            <a:solidFill>
              <a:srgbClr val="48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70648" y="3520440"/>
            <a:ext cx="29260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092440" y="2743200"/>
            <a:ext cx="548640" cy="1783080"/>
          </a:xfrm>
          <a:prstGeom prst="line">
            <a:avLst/>
          </a:prstGeom>
          <a:ln w="22860">
            <a:solidFill>
              <a:srgbClr val="48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02167" y="3406140"/>
            <a:ext cx="29260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41080" y="2743200"/>
            <a:ext cx="1645920" cy="411480"/>
          </a:xfrm>
          <a:prstGeom prst="line">
            <a:avLst/>
          </a:prstGeom>
          <a:ln w="22860">
            <a:solidFill>
              <a:srgbClr val="48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299448" y="2720340"/>
            <a:ext cx="29260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8092440" y="3154680"/>
            <a:ext cx="2194560" cy="1371600"/>
          </a:xfrm>
          <a:prstGeom prst="line">
            <a:avLst/>
          </a:prstGeom>
          <a:ln w="22860">
            <a:solidFill>
              <a:srgbClr val="48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025128" y="3611880"/>
            <a:ext cx="29260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92440" y="4526280"/>
            <a:ext cx="2011679" cy="91440"/>
          </a:xfrm>
          <a:prstGeom prst="line">
            <a:avLst/>
          </a:prstGeom>
          <a:ln w="22860">
            <a:solidFill>
              <a:srgbClr val="48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933688" y="4343400"/>
            <a:ext cx="29260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6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0104119" y="3154680"/>
            <a:ext cx="182881" cy="1463040"/>
          </a:xfrm>
          <a:prstGeom prst="line">
            <a:avLst/>
          </a:prstGeom>
          <a:ln w="22860">
            <a:solidFill>
              <a:srgbClr val="48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030967" y="3657600"/>
            <a:ext cx="29260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6995160" y="2788920"/>
            <a:ext cx="384048" cy="3840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1</a:t>
            </a:r>
          </a:p>
        </p:txBody>
      </p:sp>
      <p:sp>
        <p:nvSpPr>
          <p:cNvPr id="29" name="Oval 28"/>
          <p:cNvSpPr/>
          <p:nvPr/>
        </p:nvSpPr>
        <p:spPr>
          <a:xfrm>
            <a:off x="8458200" y="2560320"/>
            <a:ext cx="384048" cy="3840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10104120" y="2971800"/>
            <a:ext cx="384048" cy="3840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909560" y="4343400"/>
            <a:ext cx="384048" cy="3840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4</a:t>
            </a:r>
          </a:p>
        </p:txBody>
      </p:sp>
      <p:sp>
        <p:nvSpPr>
          <p:cNvPr id="32" name="Oval 31"/>
          <p:cNvSpPr/>
          <p:nvPr/>
        </p:nvSpPr>
        <p:spPr>
          <a:xfrm>
            <a:off x="9921240" y="4434840"/>
            <a:ext cx="384048" cy="3840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5257800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B0BEDC"/>
                </a:solidFill>
                <a:latin typeface="Aptos"/>
              </a:rPr>
              <a:t>Goal: connect all 5 vertices at minimum cost.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B0BEDC"/>
                </a:solidFill>
                <a:latin typeface="Aptos"/>
              </a:rPr>
              <a:t>KRUSKAL'S ALGORITHM  •  MINIMUM SPANNING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640080"/>
            <a:ext cx="2926080" cy="292608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377440" cy="2377440"/>
          </a:xfrm>
          <a:prstGeom prst="ellipse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03520"/>
            <a:ext cx="1645920" cy="164592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The 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24128"/>
            <a:ext cx="10607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B0BEDC"/>
                </a:solidFill>
                <a:latin typeface="Aptos"/>
              </a:rPr>
              <a:t>Kruskal’s algorithm is a greedy algorithm.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2487168" cy="3154680"/>
          </a:xfrm>
          <a:prstGeom prst="roundRect">
            <a:avLst/>
          </a:prstGeom>
          <a:solidFill>
            <a:srgbClr val="18274B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67712"/>
            <a:ext cx="6400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80360"/>
            <a:ext cx="2011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F5F8FF"/>
                </a:solidFill>
                <a:latin typeface="Aptos"/>
              </a:rPr>
              <a:t>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74720"/>
            <a:ext cx="20116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B0BEDC"/>
                </a:solidFill>
                <a:latin typeface="Aptos"/>
              </a:rPr>
              <a:t>Arrange all edges from smallest weight to largest.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3" y="3246120"/>
            <a:ext cx="320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2DD4B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4448" y="2011680"/>
            <a:ext cx="2487168" cy="3154680"/>
          </a:xfrm>
          <a:prstGeom prst="roundRect">
            <a:avLst/>
          </a:prstGeom>
          <a:solidFill>
            <a:srgbClr val="18274B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2267712"/>
            <a:ext cx="6400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5" y="2880360"/>
            <a:ext cx="2011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F5F8FF"/>
                </a:solidFill>
                <a:latin typeface="Aptos"/>
              </a:rPr>
              <a:t>Select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5" y="3474720"/>
            <a:ext cx="20116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B0BEDC"/>
                </a:solidFill>
                <a:latin typeface="Aptos"/>
              </a:rPr>
              <a:t>Consider the next lightest edge.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3246120"/>
            <a:ext cx="320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37376" y="2011680"/>
            <a:ext cx="2487168" cy="3154680"/>
          </a:xfrm>
          <a:prstGeom prst="roundRect">
            <a:avLst/>
          </a:prstGeom>
          <a:solidFill>
            <a:srgbClr val="18274B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267712"/>
            <a:ext cx="6400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FBBF24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2880360"/>
            <a:ext cx="2011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F5F8FF"/>
                </a:solidFill>
                <a:latin typeface="Aptos"/>
              </a:rP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3474720"/>
            <a:ext cx="20116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B0BEDC"/>
                </a:solidFill>
                <a:latin typeface="Aptos"/>
              </a:rPr>
              <a:t>Add it only if it does not create a cycle.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246120"/>
            <a:ext cx="320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90304" y="2011680"/>
            <a:ext cx="2487168" cy="3154680"/>
          </a:xfrm>
          <a:prstGeom prst="roundRect">
            <a:avLst/>
          </a:prstGeom>
          <a:solidFill>
            <a:srgbClr val="18274B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2267712"/>
            <a:ext cx="6400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4ADE80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2880360"/>
            <a:ext cx="2011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F5F8FF"/>
                </a:solidFill>
                <a:latin typeface="Aptos"/>
              </a:rPr>
              <a:t>Stop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3474720"/>
            <a:ext cx="20116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B0BEDC"/>
                </a:solidFill>
                <a:latin typeface="Aptos"/>
              </a:rPr>
              <a:t>Finish when V − 1 edges have been selected.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623560"/>
            <a:ext cx="10058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2DD4BF"/>
                </a:solidFill>
                <a:latin typeface="Aptos"/>
              </a:rPr>
              <a:t>Greedy choice = take the cheapest safe edge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B0BEDC"/>
                </a:solidFill>
                <a:latin typeface="Aptos"/>
              </a:rPr>
              <a:t>KRUSKAL'S ALGORITHM  •  MINIMUM SPANNING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640080"/>
            <a:ext cx="2926080" cy="292608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377440" cy="2377440"/>
          </a:xfrm>
          <a:prstGeom prst="ellipse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03520"/>
            <a:ext cx="1645920" cy="164592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Algorithm / Pseudocode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24128"/>
            <a:ext cx="10607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B0BEDC"/>
                </a:solidFill>
                <a:latin typeface="Aptos"/>
              </a:rPr>
              <a:t>Disjoint Set Union (DSU) helps detect whether an edge creates a 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6583680" cy="4434840"/>
          </a:xfrm>
          <a:prstGeom prst="roundRect">
            <a:avLst/>
          </a:prstGeom>
          <a:solidFill>
            <a:srgbClr val="0C162E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594360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DD4BF"/>
                </a:solidFill>
                <a:latin typeface="Consolas"/>
              </a:defRPr>
            </a:pPr>
            <a:r>
              <a:t>KRUSKAL(G):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Consolas"/>
              </a:defRPr>
            </a:pPr>
            <a:r>
              <a:t>  MST = empty set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Consolas"/>
              </a:defRPr>
            </a:pPr>
            <a:r>
              <a:t>  sort all edges by increasing weight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Consolas"/>
              </a:defRPr>
            </a:pPr>
            <a:r>
              <a:t>  make each vertex its own set</a:t>
            </a:r>
          </a:p>
          <a:p>
            <a:pPr>
              <a:spcAft>
                <a:spcPts val="800"/>
              </a:spcAft>
              <a:defRPr sz="1600" b="0">
                <a:solidFill>
                  <a:srgbClr val="38BDF8"/>
                </a:solidFill>
                <a:latin typeface="Consolas"/>
              </a:defRPr>
            </a:pPr>
            <a:r>
              <a:t>  for each edge (u, v) in sorted edges: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Consolas"/>
              </a:defRPr>
            </a:pPr>
            <a:r>
              <a:t>      if FIND(u) ≠ FIND(v):</a:t>
            </a:r>
          </a:p>
          <a:p>
            <a:pPr>
              <a:spcAft>
                <a:spcPts val="800"/>
              </a:spcAft>
              <a:defRPr sz="1600" b="0">
                <a:solidFill>
                  <a:srgbClr val="4ADE80"/>
                </a:solidFill>
                <a:latin typeface="Consolas"/>
              </a:defRPr>
            </a:pPr>
            <a:r>
              <a:t>          add (u, v) to MST</a:t>
            </a:r>
          </a:p>
          <a:p>
            <a:pPr>
              <a:spcAft>
                <a:spcPts val="800"/>
              </a:spcAft>
              <a:defRPr sz="1600" b="0">
                <a:solidFill>
                  <a:srgbClr val="4ADE80"/>
                </a:solidFill>
                <a:latin typeface="Consolas"/>
              </a:defRPr>
            </a:pPr>
            <a:r>
              <a:t>          UNION(u, v)</a:t>
            </a:r>
          </a:p>
          <a:p>
            <a:pPr>
              <a:spcAft>
                <a:spcPts val="800"/>
              </a:spcAft>
              <a:defRPr sz="1600" b="0">
                <a:solidFill>
                  <a:srgbClr val="FBBF24"/>
                </a:solidFill>
                <a:latin typeface="Consolas"/>
              </a:defRPr>
            </a:pPr>
            <a:r>
              <a:t>      if |MST| = V − 1: stop</a:t>
            </a:r>
          </a:p>
          <a:p>
            <a:pPr>
              <a:spcAft>
                <a:spcPts val="800"/>
              </a:spcAft>
              <a:defRPr sz="1600" b="1">
                <a:solidFill>
                  <a:srgbClr val="2DD4BF"/>
                </a:solidFill>
                <a:latin typeface="Consolas"/>
              </a:defRPr>
            </a:pPr>
            <a:r>
              <a:t>  return MST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737360"/>
            <a:ext cx="3611880" cy="4434840"/>
          </a:xfrm>
          <a:prstGeom prst="roundRect">
            <a:avLst/>
          </a:prstGeom>
          <a:solidFill>
            <a:srgbClr val="18274B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057400"/>
            <a:ext cx="2834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2DD4BF"/>
                </a:solidFill>
                <a:latin typeface="Aptos"/>
              </a:rPr>
              <a:t>Why DSU?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43200"/>
            <a:ext cx="2834640" cy="29260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FIND(u): identifies the set/component containing u</a:t>
            </a:r>
          </a:p>
          <a:p>
            <a:pPr>
              <a:spcAft>
                <a:spcPts val="1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UNION(u, v): merges two different components</a:t>
            </a:r>
          </a:p>
          <a:p>
            <a:pPr>
              <a:spcAft>
                <a:spcPts val="1700"/>
              </a:spcAft>
              <a:defRPr sz="1600" b="0">
                <a:solidFill>
                  <a:srgbClr val="FBBF24"/>
                </a:solidFill>
                <a:latin typeface="Aptos"/>
              </a:defRPr>
            </a:pPr>
            <a:r>
              <a:t>If both vertices are already in the same set, adding the edge would form a cycle.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B0BEDC"/>
                </a:solidFill>
                <a:latin typeface="Aptos"/>
              </a:rPr>
              <a:t>KRUSKAL'S ALGORITHM  •  MINIMUM SPANNING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640080"/>
            <a:ext cx="2926080" cy="292608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377440" cy="2377440"/>
          </a:xfrm>
          <a:prstGeom prst="ellipse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03520"/>
            <a:ext cx="1645920" cy="164592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Worked Example: Start with the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24128"/>
            <a:ext cx="10607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B0BEDC"/>
                </a:solidFill>
                <a:latin typeface="Aptos"/>
              </a:rPr>
              <a:t>Five vertices and seven weighted edges.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640080"/>
            <a:ext cx="2926080" cy="292608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377440" cy="2377440"/>
          </a:xfrm>
          <a:prstGeom prst="ellipse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03520"/>
            <a:ext cx="1645920" cy="164592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Worked Example: Start with the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24128"/>
            <a:ext cx="10607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B0BEDC"/>
                </a:solidFill>
                <a:latin typeface="Aptos"/>
              </a:rPr>
              <a:t>Five vertices and seven weighted edges.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121408" y="1892808"/>
            <a:ext cx="2285999" cy="274320"/>
          </a:xfrm>
          <a:prstGeom prst="line">
            <a:avLst/>
          </a:prstGeom>
          <a:ln w="25400">
            <a:solidFill>
              <a:srgbClr val="48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81527" y="1737360"/>
            <a:ext cx="34747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Aptos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21408" y="2167128"/>
            <a:ext cx="1691640" cy="2194560"/>
          </a:xfrm>
          <a:prstGeom prst="line">
            <a:avLst/>
          </a:prstGeom>
          <a:ln w="25400">
            <a:solidFill>
              <a:srgbClr val="48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84348" y="2971799"/>
            <a:ext cx="34747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Aptos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813048" y="1892808"/>
            <a:ext cx="594359" cy="2468880"/>
          </a:xfrm>
          <a:prstGeom prst="line">
            <a:avLst/>
          </a:prstGeom>
          <a:ln w="25400">
            <a:solidFill>
              <a:srgbClr val="48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27348" y="2834640"/>
            <a:ext cx="34747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Aptos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07407" y="1892808"/>
            <a:ext cx="1554481" cy="1188720"/>
          </a:xfrm>
          <a:prstGeom prst="line">
            <a:avLst/>
          </a:prstGeom>
          <a:ln w="25400">
            <a:solidFill>
              <a:srgbClr val="48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01767" y="2194560"/>
            <a:ext cx="34747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Aptos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813048" y="3081528"/>
            <a:ext cx="2148840" cy="1280160"/>
          </a:xfrm>
          <a:prstGeom prst="line">
            <a:avLst/>
          </a:prstGeom>
          <a:ln w="25400">
            <a:solidFill>
              <a:srgbClr val="48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04588" y="3428999"/>
            <a:ext cx="34747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Aptos"/>
              </a:rPr>
              <a:t>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13048" y="4361688"/>
            <a:ext cx="3108959" cy="411480"/>
          </a:xfrm>
          <a:prstGeom prst="line">
            <a:avLst/>
          </a:prstGeom>
          <a:ln w="25400">
            <a:solidFill>
              <a:srgbClr val="48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4648" y="4274820"/>
            <a:ext cx="34747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Aptos"/>
              </a:rPr>
              <a:t>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61888" y="3081528"/>
            <a:ext cx="960119" cy="1691640"/>
          </a:xfrm>
          <a:prstGeom prst="line">
            <a:avLst/>
          </a:prstGeom>
          <a:ln w="25400">
            <a:solidFill>
              <a:srgbClr val="48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59067" y="3634740"/>
            <a:ext cx="34747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Aptos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1920240" y="1965960"/>
            <a:ext cx="420624" cy="42062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A1126"/>
                </a:solidFill>
                <a:latin typeface="Aptos"/>
              </a:rPr>
              <a:t>A</a:t>
            </a:r>
          </a:p>
        </p:txBody>
      </p:sp>
      <p:sp>
        <p:nvSpPr>
          <p:cNvPr id="24" name="Oval 23"/>
          <p:cNvSpPr/>
          <p:nvPr/>
        </p:nvSpPr>
        <p:spPr>
          <a:xfrm>
            <a:off x="4206240" y="1691640"/>
            <a:ext cx="420624" cy="42062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A1126"/>
                </a:solidFill>
                <a:latin typeface="Aptos"/>
              </a:rPr>
              <a:t>B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2880360"/>
            <a:ext cx="420624" cy="42062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A1126"/>
                </a:solidFill>
                <a:latin typeface="Aptos"/>
              </a:rPr>
              <a:t>C</a:t>
            </a:r>
          </a:p>
        </p:txBody>
      </p:sp>
      <p:sp>
        <p:nvSpPr>
          <p:cNvPr id="26" name="Oval 25"/>
          <p:cNvSpPr/>
          <p:nvPr/>
        </p:nvSpPr>
        <p:spPr>
          <a:xfrm>
            <a:off x="3611880" y="4160520"/>
            <a:ext cx="420624" cy="42062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A1126"/>
                </a:solidFill>
                <a:latin typeface="Aptos"/>
              </a:rPr>
              <a:t>D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4572000"/>
            <a:ext cx="420624" cy="42062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A1126"/>
                </a:solidFill>
                <a:latin typeface="Aptos"/>
              </a:rPr>
              <a:t>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1691640"/>
            <a:ext cx="3886200" cy="4434840"/>
          </a:xfrm>
          <a:prstGeom prst="roundRect">
            <a:avLst/>
          </a:prstGeom>
          <a:solidFill>
            <a:srgbClr val="18274B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199339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Edge list (unsorted)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2560320"/>
            <a:ext cx="30175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B0BEDC"/>
                </a:solidFill>
                <a:latin typeface="Aptos"/>
              </a:rPr>
              <a:t>AB = 4    AD = 2    BD = 1
BC = 5    DC = 8    DE = 6
CE =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3977639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ptos"/>
              </a:rPr>
              <a:t>Sort by weight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4462272"/>
            <a:ext cx="31546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BD(1), AD(2), CE(2), AB(4),
BC(5), DE(6), DC(8)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5486400"/>
            <a:ext cx="3017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Aptos"/>
              </a:rPr>
              <a:t>Next: accept safe edges in order.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B0BEDC"/>
                </a:solidFill>
                <a:latin typeface="Aptos"/>
              </a:rPr>
              <a:t>KRUSKAL'S ALGORITHM  •  MINIMUM SPANNING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640080"/>
            <a:ext cx="2926080" cy="292608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377440" cy="2377440"/>
          </a:xfrm>
          <a:prstGeom prst="ellipse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03520"/>
            <a:ext cx="1645920" cy="164592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Step-by-Step Edge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24128"/>
            <a:ext cx="10607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B0BEDC"/>
                </a:solidFill>
                <a:latin typeface="Aptos"/>
              </a:rPr>
              <a:t>Accept an edge if it joins two different components; otherwise reject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2286000" cy="530352"/>
          </a:xfrm>
          <a:prstGeom prst="rect">
            <a:avLst/>
          </a:prstGeom>
          <a:solidFill>
            <a:srgbClr val="1C365B"/>
          </a:solidFill>
          <a:ln w="12700">
            <a:solidFill>
              <a:srgbClr val="1C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92807"/>
            <a:ext cx="21396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DD4BF"/>
                </a:solidFill>
                <a:latin typeface="Aptos"/>
              </a:rPr>
              <a:t>Edge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783080"/>
            <a:ext cx="1234440" cy="530352"/>
          </a:xfrm>
          <a:prstGeom prst="rect">
            <a:avLst/>
          </a:prstGeom>
          <a:solidFill>
            <a:srgbClr val="1C365B"/>
          </a:solidFill>
          <a:ln w="12700">
            <a:solidFill>
              <a:srgbClr val="1C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1892807"/>
            <a:ext cx="108813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DD4BF"/>
                </a:solidFill>
                <a:latin typeface="Aptos"/>
              </a:rPr>
              <a:t>Weight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783080"/>
            <a:ext cx="2057400" cy="530352"/>
          </a:xfrm>
          <a:prstGeom prst="rect">
            <a:avLst/>
          </a:prstGeom>
          <a:solidFill>
            <a:srgbClr val="1C365B"/>
          </a:solidFill>
          <a:ln w="12700">
            <a:solidFill>
              <a:srgbClr val="1C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1892807"/>
            <a:ext cx="1911095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DD4BF"/>
                </a:solidFill>
                <a:latin typeface="Aptos"/>
              </a:rPr>
              <a:t>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783080"/>
            <a:ext cx="1920240" cy="530352"/>
          </a:xfrm>
          <a:prstGeom prst="rect">
            <a:avLst/>
          </a:prstGeom>
          <a:solidFill>
            <a:srgbClr val="1C365B"/>
          </a:solidFill>
          <a:ln w="12700">
            <a:solidFill>
              <a:srgbClr val="1C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892807"/>
            <a:ext cx="177393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DD4BF"/>
                </a:solidFill>
                <a:latin typeface="Aptos"/>
              </a:rPr>
              <a:t>Reason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783080"/>
            <a:ext cx="2926080" cy="530352"/>
          </a:xfrm>
          <a:prstGeom prst="rect">
            <a:avLst/>
          </a:prstGeom>
          <a:solidFill>
            <a:srgbClr val="1C365B"/>
          </a:solidFill>
          <a:ln w="12700">
            <a:solidFill>
              <a:srgbClr val="1C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892807"/>
            <a:ext cx="27797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DD4BF"/>
                </a:solidFill>
                <a:latin typeface="Aptos"/>
              </a:rPr>
              <a:t>MST so far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350008"/>
            <a:ext cx="228600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496312"/>
            <a:ext cx="213969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BD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350008"/>
            <a:ext cx="123444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0672" y="2496312"/>
            <a:ext cx="1088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2350008"/>
            <a:ext cx="205740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2496312"/>
            <a:ext cx="1911095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  <a:latin typeface="Aptos"/>
              </a:rPr>
              <a:t>ACCEPT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350008"/>
            <a:ext cx="192024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496312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F5F8FF"/>
                </a:solidFill>
                <a:latin typeface="Aptos"/>
              </a:rPr>
              <a:t>Connects B and 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350008"/>
            <a:ext cx="292608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2496312"/>
            <a:ext cx="277977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BD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035808"/>
            <a:ext cx="2286000" cy="621792"/>
          </a:xfrm>
          <a:prstGeom prst="rect">
            <a:avLst/>
          </a:prstGeom>
          <a:solidFill>
            <a:srgbClr val="162748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182112"/>
            <a:ext cx="213969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035808"/>
            <a:ext cx="1234440" cy="621792"/>
          </a:xfrm>
          <a:prstGeom prst="rect">
            <a:avLst/>
          </a:prstGeom>
          <a:solidFill>
            <a:srgbClr val="162748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3182112"/>
            <a:ext cx="1088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3035808"/>
            <a:ext cx="2057400" cy="621792"/>
          </a:xfrm>
          <a:prstGeom prst="rect">
            <a:avLst/>
          </a:prstGeom>
          <a:solidFill>
            <a:srgbClr val="162748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25112" y="3182112"/>
            <a:ext cx="1911095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  <a:latin typeface="Aptos"/>
              </a:rPr>
              <a:t>ACCEPT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035808"/>
            <a:ext cx="1920240" cy="621792"/>
          </a:xfrm>
          <a:prstGeom prst="rect">
            <a:avLst/>
          </a:prstGeom>
          <a:solidFill>
            <a:srgbClr val="162748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3182112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F5F8FF"/>
                </a:solidFill>
                <a:latin typeface="Aptos"/>
              </a:rPr>
              <a:t>Connects A to B–D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035808"/>
            <a:ext cx="2926080" cy="621792"/>
          </a:xfrm>
          <a:prstGeom prst="rect">
            <a:avLst/>
          </a:prstGeom>
          <a:solidFill>
            <a:srgbClr val="162748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3182112"/>
            <a:ext cx="277977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BD, 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721608"/>
            <a:ext cx="228600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3867912"/>
            <a:ext cx="213969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3721608"/>
            <a:ext cx="123444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90672" y="3867912"/>
            <a:ext cx="1088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60" y="3721608"/>
            <a:ext cx="205740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25112" y="3867912"/>
            <a:ext cx="1911095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  <a:latin typeface="Aptos"/>
              </a:rPr>
              <a:t>ACCEPT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721608"/>
            <a:ext cx="192024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3867912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F5F8FF"/>
                </a:solidFill>
                <a:latin typeface="Aptos"/>
              </a:rPr>
              <a:t>Connects C and 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721608"/>
            <a:ext cx="292608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02752" y="3867912"/>
            <a:ext cx="277977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BD, AD, 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407408"/>
            <a:ext cx="2286000" cy="621792"/>
          </a:xfrm>
          <a:prstGeom prst="rect">
            <a:avLst/>
          </a:prstGeom>
          <a:solidFill>
            <a:srgbClr val="162748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" y="4553712"/>
            <a:ext cx="213969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AB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17520" y="4407408"/>
            <a:ext cx="1234440" cy="621792"/>
          </a:xfrm>
          <a:prstGeom prst="rect">
            <a:avLst/>
          </a:prstGeom>
          <a:solidFill>
            <a:srgbClr val="162748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90672" y="4553712"/>
            <a:ext cx="1088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51960" y="4407408"/>
            <a:ext cx="2057400" cy="621792"/>
          </a:xfrm>
          <a:prstGeom prst="rect">
            <a:avLst/>
          </a:prstGeom>
          <a:solidFill>
            <a:srgbClr val="162748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25112" y="4553712"/>
            <a:ext cx="1911095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87171"/>
                </a:solidFill>
                <a:latin typeface="Aptos"/>
              </a:rPr>
              <a:t>REJECT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4407408"/>
            <a:ext cx="1920240" cy="621792"/>
          </a:xfrm>
          <a:prstGeom prst="rect">
            <a:avLst/>
          </a:prstGeom>
          <a:solidFill>
            <a:srgbClr val="162748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82512" y="4553712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F5F8FF"/>
                </a:solidFill>
                <a:latin typeface="Aptos"/>
              </a:rPr>
              <a:t>A and B already connected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4407408"/>
            <a:ext cx="2926080" cy="621792"/>
          </a:xfrm>
          <a:prstGeom prst="rect">
            <a:avLst/>
          </a:prstGeom>
          <a:solidFill>
            <a:srgbClr val="162748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02752" y="4553712"/>
            <a:ext cx="277977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BD, AD, 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5093208"/>
            <a:ext cx="228600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2" y="5239512"/>
            <a:ext cx="213969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BC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5093208"/>
            <a:ext cx="123444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90672" y="5239512"/>
            <a:ext cx="1088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0" y="5093208"/>
            <a:ext cx="205740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25112" y="5239512"/>
            <a:ext cx="1911095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  <a:latin typeface="Aptos"/>
              </a:rPr>
              <a:t>ACCEPT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5093208"/>
            <a:ext cx="192024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82512" y="5239512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F5F8FF"/>
                </a:solidFill>
                <a:latin typeface="Aptos"/>
              </a:rPr>
              <a:t>Joins the two components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0" y="5093208"/>
            <a:ext cx="2926080" cy="621792"/>
          </a:xfrm>
          <a:prstGeom prst="rect">
            <a:avLst/>
          </a:prstGeom>
          <a:solidFill>
            <a:srgbClr val="12203E"/>
          </a:solidFill>
          <a:ln w="12700">
            <a:solidFill>
              <a:srgbClr val="2B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02752" y="5239512"/>
            <a:ext cx="277977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BD, AD, CE, BC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BBF24"/>
                </a:solidFill>
                <a:latin typeface="Aptos"/>
              </a:rPr>
              <a:t>Stop after 4 accepted edges because V − 1 = 5 − 1 = 4.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B0BEDC"/>
                </a:solidFill>
                <a:latin typeface="Aptos"/>
              </a:rPr>
              <a:t>KRUSKAL'S ALGORITHM  •  MINIMUM SPANNING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640080"/>
            <a:ext cx="2926080" cy="292608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377440" cy="2377440"/>
          </a:xfrm>
          <a:prstGeom prst="ellipse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03520"/>
            <a:ext cx="1645920" cy="164592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Final Minimum Spanning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24128"/>
            <a:ext cx="10607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B0BEDC"/>
                </a:solidFill>
                <a:latin typeface="Aptos"/>
              </a:rPr>
              <a:t>The selected edges connect all vertices with no cycles.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07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767328" y="1847088"/>
            <a:ext cx="640079" cy="2606040"/>
          </a:xfrm>
          <a:prstGeom prst="line">
            <a:avLst/>
          </a:prstGeom>
          <a:ln w="508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04487" y="2857500"/>
            <a:ext cx="36576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BBF24"/>
                </a:solidFill>
                <a:latin typeface="Aptos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21408" y="2029968"/>
            <a:ext cx="1645920" cy="2423160"/>
          </a:xfrm>
          <a:prstGeom prst="line">
            <a:avLst/>
          </a:prstGeom>
          <a:ln w="508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61488" y="2948940"/>
            <a:ext cx="36576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BBF24"/>
                </a:solidFill>
                <a:latin typeface="Aptos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3172968"/>
            <a:ext cx="1005840" cy="1600200"/>
          </a:xfrm>
          <a:prstGeom prst="line">
            <a:avLst/>
          </a:prstGeom>
          <a:ln w="508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19088" y="3680460"/>
            <a:ext cx="36576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BBF24"/>
                </a:solidFill>
                <a:latin typeface="Aptos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07407" y="1847088"/>
            <a:ext cx="1691641" cy="1325880"/>
          </a:xfrm>
          <a:prstGeom prst="line">
            <a:avLst/>
          </a:prstGeom>
          <a:ln w="508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70348" y="2217420"/>
            <a:ext cx="36576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BBF24"/>
                </a:solidFill>
                <a:latin typeface="Aptos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1920240" y="1828800"/>
            <a:ext cx="438912" cy="43891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A</a:t>
            </a:r>
          </a:p>
        </p:txBody>
      </p:sp>
      <p:sp>
        <p:nvSpPr>
          <p:cNvPr id="18" name="Oval 17"/>
          <p:cNvSpPr/>
          <p:nvPr/>
        </p:nvSpPr>
        <p:spPr>
          <a:xfrm>
            <a:off x="4206240" y="1645920"/>
            <a:ext cx="438912" cy="43891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B</a:t>
            </a:r>
          </a:p>
        </p:txBody>
      </p:sp>
      <p:sp>
        <p:nvSpPr>
          <p:cNvPr id="19" name="Oval 18"/>
          <p:cNvSpPr/>
          <p:nvPr/>
        </p:nvSpPr>
        <p:spPr>
          <a:xfrm>
            <a:off x="5897880" y="2971800"/>
            <a:ext cx="438912" cy="43891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C</a:t>
            </a:r>
          </a:p>
        </p:txBody>
      </p:sp>
      <p:sp>
        <p:nvSpPr>
          <p:cNvPr id="20" name="Oval 19"/>
          <p:cNvSpPr/>
          <p:nvPr/>
        </p:nvSpPr>
        <p:spPr>
          <a:xfrm>
            <a:off x="3566160" y="4251960"/>
            <a:ext cx="438912" cy="43891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D</a:t>
            </a:r>
          </a:p>
        </p:txBody>
      </p:sp>
      <p:sp>
        <p:nvSpPr>
          <p:cNvPr id="21" name="Oval 20"/>
          <p:cNvSpPr/>
          <p:nvPr/>
        </p:nvSpPr>
        <p:spPr>
          <a:xfrm>
            <a:off x="6903720" y="4572000"/>
            <a:ext cx="438912" cy="43891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1126"/>
                </a:solidFill>
                <a:latin typeface="Aptos"/>
              </a:rPr>
              <a:t>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1783080"/>
            <a:ext cx="3474720" cy="4251960"/>
          </a:xfrm>
          <a:prstGeom prst="roundRect">
            <a:avLst/>
          </a:prstGeom>
          <a:solidFill>
            <a:srgbClr val="18274B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Aptos"/>
              </a:rPr>
              <a:t>MST edges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97480"/>
            <a:ext cx="2560320" cy="18288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t>BD = 1</a:t>
            </a:r>
          </a:p>
          <a:p>
            <a:pPr>
              <a:spcAft>
                <a:spcPts val="10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t>AD = 2</a:t>
            </a:r>
          </a:p>
          <a:p>
            <a:pPr>
              <a:spcAft>
                <a:spcPts val="10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t>CE = 2</a:t>
            </a:r>
          </a:p>
          <a:p>
            <a:pPr>
              <a:spcAft>
                <a:spcPts val="10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t>BC =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4892040"/>
            <a:ext cx="28346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Aptos"/>
              </a:rPr>
              <a:t>Total weight = 1 + 2 + 2 + 5 =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5559552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B0BEDC"/>
                </a:solidFill>
                <a:latin typeface="Aptos"/>
              </a:rPr>
              <a:t>4 edges connect 5 vertices.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B0BEDC"/>
                </a:solidFill>
                <a:latin typeface="Aptos"/>
              </a:rPr>
              <a:t>KRUSKAL'S ALGORITHM  •  MINIMUM SPANNING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640080"/>
            <a:ext cx="2926080" cy="292608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377440" cy="2377440"/>
          </a:xfrm>
          <a:prstGeom prst="ellipse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03520"/>
            <a:ext cx="1645920" cy="164592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Time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24128"/>
            <a:ext cx="10607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B0BEDC"/>
                </a:solidFill>
                <a:latin typeface="Aptos"/>
              </a:rPr>
              <a:t>Sorting dominates the running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4983480" cy="3566160"/>
          </a:xfrm>
          <a:prstGeom prst="roundRect">
            <a:avLst/>
          </a:prstGeom>
          <a:solidFill>
            <a:srgbClr val="18274B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2DD4BF"/>
                </a:solidFill>
                <a:latin typeface="Aptos"/>
              </a:rP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4114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"/>
              </a:rPr>
              <a:t>O(E log 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57600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B0BEDC"/>
                </a:solidFill>
                <a:latin typeface="Aptos"/>
              </a:rPr>
              <a:t>E = number of edges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06240"/>
            <a:ext cx="40233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Sorting all edges is the main cost.
DSU operations are nearly constant amortized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4983480" cy="3566160"/>
          </a:xfrm>
          <a:prstGeom prst="roundRect">
            <a:avLst/>
          </a:prstGeom>
          <a:solidFill>
            <a:srgbClr val="18274B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4884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38BDF8"/>
                </a:solidFill>
                <a:latin typeface="Aptos"/>
              </a:rPr>
              <a:t>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4114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"/>
              </a:rPr>
              <a:t>O(V + 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57600"/>
            <a:ext cx="4023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B0BEDC"/>
                </a:solidFill>
                <a:latin typeface="Aptos"/>
              </a:rPr>
              <a:t>V = vertices • E = edges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206240"/>
            <a:ext cx="4023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Stores the edge list and DSU parent/rank arrays.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806440"/>
            <a:ext cx="10241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BBF24"/>
                </a:solidFill>
                <a:latin typeface="Aptos"/>
              </a:rPr>
              <a:t>With efficient sorting and Union-Find, Kruskal scales well for sparse graphs.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B0BEDC"/>
                </a:solidFill>
                <a:latin typeface="Aptos"/>
              </a:rPr>
              <a:t>KRUSKAL'S ALGORITHM  •  MINIMUM SPANNING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640080"/>
            <a:ext cx="2926080" cy="292608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377440" cy="2377440"/>
          </a:xfrm>
          <a:prstGeom prst="ellipse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03520"/>
            <a:ext cx="1645920" cy="164592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Applications, Advantages &amp;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24128"/>
            <a:ext cx="10607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B0BEDC"/>
                </a:solidFill>
                <a:latin typeface="Aptos"/>
              </a:rPr>
              <a:t>Where this algorithm is useful—and what to remember.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3566160" cy="4251960"/>
          </a:xfrm>
          <a:prstGeom prst="roundRect">
            <a:avLst/>
          </a:prstGeom>
          <a:solidFill>
            <a:srgbClr val="18274B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Aptos"/>
              </a:rPr>
              <a:t>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2880360" cy="25603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6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Designing low-cost networks</a:t>
            </a:r>
          </a:p>
          <a:p>
            <a:pPr>
              <a:spcAft>
                <a:spcPts val="16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Roads, cables and pipelines</a:t>
            </a:r>
          </a:p>
          <a:p>
            <a:pPr>
              <a:spcAft>
                <a:spcPts val="16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Clustering and image segmentation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783080"/>
            <a:ext cx="3383280" cy="4251960"/>
          </a:xfrm>
          <a:prstGeom prst="roundRect">
            <a:avLst/>
          </a:prstGeom>
          <a:solidFill>
            <a:srgbClr val="18274B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057400"/>
            <a:ext cx="2560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4ADE80"/>
                </a:solidFill>
                <a:latin typeface="Aptos"/>
              </a:rP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97480"/>
            <a:ext cx="2651760" cy="25603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6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Simple greedy strategy</a:t>
            </a:r>
          </a:p>
          <a:p>
            <a:pPr>
              <a:spcAft>
                <a:spcPts val="16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Works well on sparse graphs</a:t>
            </a:r>
          </a:p>
          <a:p>
            <a:pPr>
              <a:spcAft>
                <a:spcPts val="16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Easy to implement with DSU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83080"/>
            <a:ext cx="3383280" cy="4251960"/>
          </a:xfrm>
          <a:prstGeom prst="roundRect">
            <a:avLst/>
          </a:prstGeom>
          <a:solidFill>
            <a:srgbClr val="18274B"/>
          </a:solidFill>
          <a:ln w="12700">
            <a:solidFill>
              <a:srgbClr val="2A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2560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  <a:latin typeface="Aptos"/>
              </a:rPr>
              <a:t>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697480"/>
            <a:ext cx="2651760" cy="2743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6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Requires weighted edges</a:t>
            </a:r>
          </a:p>
          <a:p>
            <a:pPr>
              <a:spcAft>
                <a:spcPts val="16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Disconnected graph gives a forest, not one MST</a:t>
            </a:r>
          </a:p>
          <a:p>
            <a:pPr>
              <a:spcAft>
                <a:spcPts val="16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Must avoid cycle-forming edges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B0BEDC"/>
                </a:solidFill>
                <a:latin typeface="Aptos"/>
              </a:rPr>
              <a:t>KRUSKAL'S ALGORITHM  •  MINIMUM SPANNING TREE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640080"/>
            <a:ext cx="2926080" cy="292608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377440" cy="2377440"/>
          </a:xfrm>
          <a:prstGeom prst="ellipse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03520"/>
            <a:ext cx="1645920" cy="1645920"/>
          </a:xfrm>
          <a:prstGeom prst="ellipse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5778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500" b="1">
                <a:solidFill>
                  <a:srgbClr val="F5F8FF"/>
                </a:solidFill>
                <a:latin typeface="Aptos"/>
              </a:rPr>
              <a:t>Remember these
4 things.</a:t>
            </a:r>
          </a:p>
        </p:txBody>
      </p:sp>
      <p:sp>
        <p:nvSpPr>
          <p:cNvPr id="8" name="Oval 7"/>
          <p:cNvSpPr/>
          <p:nvPr/>
        </p:nvSpPr>
        <p:spPr>
          <a:xfrm>
            <a:off x="6537960" y="1417320"/>
            <a:ext cx="438912" cy="43891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A1126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435608"/>
            <a:ext cx="4160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Sort edges by increasing weight</a:t>
            </a:r>
          </a:p>
        </p:txBody>
      </p:sp>
      <p:sp>
        <p:nvSpPr>
          <p:cNvPr id="10" name="Oval 9"/>
          <p:cNvSpPr/>
          <p:nvPr/>
        </p:nvSpPr>
        <p:spPr>
          <a:xfrm>
            <a:off x="6537960" y="2404872"/>
            <a:ext cx="438912" cy="43891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A112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423160"/>
            <a:ext cx="4160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Choose the cheapest edge that does not form a cycle</a:t>
            </a:r>
          </a:p>
        </p:txBody>
      </p:sp>
      <p:sp>
        <p:nvSpPr>
          <p:cNvPr id="12" name="Oval 11"/>
          <p:cNvSpPr/>
          <p:nvPr/>
        </p:nvSpPr>
        <p:spPr>
          <a:xfrm>
            <a:off x="6537960" y="3392424"/>
            <a:ext cx="438912" cy="43891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A112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410712"/>
            <a:ext cx="4160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Use Disjoint Set Union to detect cycles efficiently</a:t>
            </a:r>
          </a:p>
        </p:txBody>
      </p:sp>
      <p:sp>
        <p:nvSpPr>
          <p:cNvPr id="14" name="Oval 13"/>
          <p:cNvSpPr/>
          <p:nvPr/>
        </p:nvSpPr>
        <p:spPr>
          <a:xfrm>
            <a:off x="6537960" y="4379976"/>
            <a:ext cx="438912" cy="43891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A1126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4398264"/>
            <a:ext cx="4160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Stop after V − 1 edges; sum their weights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577840"/>
            <a:ext cx="3474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38BDF8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44768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B0BEDC"/>
                </a:solidFill>
                <a:latin typeface="Aptos"/>
              </a:rPr>
              <a:t>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B0BEDC"/>
                </a:solidFill>
                <a:latin typeface="Aptos"/>
              </a:rPr>
              <a:t>END • KRUSKAL’S ALGORITHM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